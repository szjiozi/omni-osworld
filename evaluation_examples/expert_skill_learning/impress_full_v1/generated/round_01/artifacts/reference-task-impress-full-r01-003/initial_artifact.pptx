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880360"/>
          </a:xfrm>
          <a:prstGeom prst="rect">
            <a:avLst/>
          </a:prstGeom>
          <a:solidFill>
            <a:srgbClr val="1E5B55"/>
          </a:solidFill>
          <a:ln w="15875">
            <a:solidFill>
              <a:srgbClr val="1E5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41248"/>
            <a:ext cx="7132320" cy="713232"/>
          </a:xfrm>
          <a:prstGeom prst="rect">
            <a:avLst/>
          </a:prstGeom>
          <a:solidFill>
            <a:srgbClr val="FAF8F1">
              <a:alpha val="0"/>
            </a:srgbClr>
          </a:solidFill>
          <a:ln>
            <a:solidFill>
              <a:srgbClr val="FAF8F1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8F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Riverside Pollinator Walk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952" y="1719072"/>
            <a:ext cx="6035040" cy="384048"/>
          </a:xfrm>
          <a:prstGeom prst="rect">
            <a:avLst/>
          </a:prstGeom>
          <a:solidFill>
            <a:srgbClr val="FAF8F1">
              <a:alpha val="0"/>
            </a:srgbClr>
          </a:solidFill>
          <a:ln>
            <a:solidFill>
              <a:srgbClr val="FAF8F1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FE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Volunteer field brief • Riverside greenway • September 14</a:t>
            </a:r>
            <a:endParaRPr lang="en-US" sz="1600" dirty="0"/>
          </a:p>
        </p:txBody>
      </p:sp>
      <p:pic>
        <p:nvPicPr>
          <p:cNvPr id="5" name="Image 0" descr="cover_botanical_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304288"/>
            <a:ext cx="333756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03504"/>
            <a:ext cx="2194560" cy="292608"/>
          </a:xfrm>
          <a:prstGeom prst="rect">
            <a:avLst/>
          </a:prstGeom>
          <a:solidFill>
            <a:srgbClr val="FAF8F1">
              <a:alpha val="0"/>
            </a:srgbClr>
          </a:solidFill>
          <a:ln>
            <a:solidFill>
              <a:srgbClr val="FAF8F1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FIELD SNAPSHOT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5760720" cy="621792"/>
          </a:xfrm>
          <a:prstGeom prst="rect">
            <a:avLst/>
          </a:prstGeom>
          <a:solidFill>
            <a:srgbClr val="FAF8F1">
              <a:alpha val="0"/>
            </a:srgbClr>
          </a:solidFill>
          <a:ln>
            <a:solidFill>
              <a:srgbClr val="FAF8F1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focused walk for late-season habitat clues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3566160" cy="932688"/>
          </a:xfrm>
          <a:prstGeom prst="rect">
            <a:avLst/>
          </a:prstGeom>
          <a:solidFill>
            <a:srgbClr val="FAF8F1">
              <a:alpha val="0"/>
            </a:srgbClr>
          </a:solidFill>
          <a:ln>
            <a:solidFill>
              <a:srgbClr val="FAF8F1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Pair up along the river path to note nesting shelter,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nectar plants, and repeat pollinator activity.</a:t>
            </a:r>
            <a:endParaRPr lang="en-US" sz="1700" dirty="0"/>
          </a:p>
        </p:txBody>
      </p:sp>
      <p:pic>
        <p:nvPicPr>
          <p:cNvPr id="5" name="Image 0" descr="pollinator_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182112"/>
            <a:ext cx="1874520" cy="14399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4736592"/>
            <a:ext cx="3401568" cy="1325880"/>
          </a:xfrm>
          <a:prstGeom prst="roundRect">
            <a:avLst/>
          </a:prstGeom>
          <a:solidFill>
            <a:srgbClr val="D8EFE8"/>
          </a:solidFill>
          <a:ln w="15875">
            <a:solidFill>
              <a:srgbClr val="D8EF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4983480"/>
            <a:ext cx="1005840" cy="438912"/>
          </a:xfrm>
          <a:prstGeom prst="rect">
            <a:avLst/>
          </a:prstGeom>
          <a:solidFill>
            <a:srgbClr val="D8EFE8">
              <a:alpha val="0"/>
            </a:srgbClr>
          </a:solidFill>
          <a:ln>
            <a:solidFill>
              <a:srgbClr val="D8EF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24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05840" y="5468112"/>
            <a:ext cx="2697480" cy="402336"/>
          </a:xfrm>
          <a:prstGeom prst="rect">
            <a:avLst/>
          </a:prstGeom>
          <a:solidFill>
            <a:srgbClr val="D8EFE8">
              <a:alpha val="0"/>
            </a:srgbClr>
          </a:solidFill>
          <a:ln>
            <a:solidFill>
              <a:srgbClr val="D8EF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Nesting sites mapped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98264" y="4736592"/>
            <a:ext cx="3401568" cy="1325880"/>
          </a:xfrm>
          <a:prstGeom prst="roundRect">
            <a:avLst/>
          </a:prstGeom>
          <a:solidFill>
            <a:srgbClr val="D8EFE8"/>
          </a:solidFill>
          <a:ln w="15875">
            <a:solidFill>
              <a:srgbClr val="D8E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72584" y="4983480"/>
            <a:ext cx="1005840" cy="438912"/>
          </a:xfrm>
          <a:prstGeom prst="rect">
            <a:avLst/>
          </a:prstGeom>
          <a:solidFill>
            <a:srgbClr val="D8EFE8">
              <a:alpha val="0"/>
            </a:srgbClr>
          </a:solidFill>
          <a:ln>
            <a:solidFill>
              <a:srgbClr val="D8EF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17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672584" y="5468112"/>
            <a:ext cx="2697480" cy="402336"/>
          </a:xfrm>
          <a:prstGeom prst="rect">
            <a:avLst/>
          </a:prstGeom>
          <a:solidFill>
            <a:srgbClr val="D8EFE8">
              <a:alpha val="0"/>
            </a:srgbClr>
          </a:solidFill>
          <a:ln>
            <a:solidFill>
              <a:srgbClr val="D8EF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Late-season blooms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65008" y="4736592"/>
            <a:ext cx="3401568" cy="1325880"/>
          </a:xfrm>
          <a:prstGeom prst="roundRect">
            <a:avLst/>
          </a:prstGeom>
          <a:solidFill>
            <a:srgbClr val="D8EFE8"/>
          </a:solidFill>
          <a:ln w="15875">
            <a:solidFill>
              <a:srgbClr val="D8E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9328" y="4983480"/>
            <a:ext cx="1005840" cy="438912"/>
          </a:xfrm>
          <a:prstGeom prst="rect">
            <a:avLst/>
          </a:prstGeom>
          <a:solidFill>
            <a:srgbClr val="D8EFE8">
              <a:alpha val="0"/>
            </a:srgbClr>
          </a:solidFill>
          <a:ln>
            <a:solidFill>
              <a:srgbClr val="D8EF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339328" y="5468112"/>
            <a:ext cx="2697480" cy="402336"/>
          </a:xfrm>
          <a:prstGeom prst="rect">
            <a:avLst/>
          </a:prstGeom>
          <a:solidFill>
            <a:srgbClr val="D8EFE8">
              <a:alpha val="0"/>
            </a:srgbClr>
          </a:solidFill>
          <a:ln>
            <a:solidFill>
              <a:srgbClr val="D8EFE8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Volunteer pairs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6400800" cy="530352"/>
          </a:xfrm>
          <a:prstGeom prst="rect">
            <a:avLst/>
          </a:prstGeom>
          <a:solidFill>
            <a:srgbClr val="FAF8F1">
              <a:alpha val="0"/>
            </a:srgbClr>
          </a:solidFill>
          <a:ln>
            <a:solidFill>
              <a:srgbClr val="FAF8F1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Observe, record, and keep the path welcoming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504688" cy="4343400"/>
          </a:xfrm>
          <a:prstGeom prst="roundRect">
            <a:avLst/>
          </a:prstGeom>
          <a:solidFill>
            <a:srgbClr val="D8EFE8"/>
          </a:solidFill>
          <a:ln w="15875">
            <a:solidFill>
              <a:srgbClr val="D8EF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965960"/>
            <a:ext cx="4681728" cy="3337560"/>
          </a:xfrm>
          <a:prstGeom prst="rect">
            <a:avLst/>
          </a:prstGeom>
          <a:solidFill>
            <a:srgbClr val="D8EFE8">
              <a:alpha val="0"/>
            </a:srgbClr>
          </a:solidFill>
          <a:ln>
            <a:solidFill>
              <a:srgbClr val="D8EFE8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ROUTE OBSERVATIONS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Pause at sunny edge plantings.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Scan stems, bare soil, and old wood.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Count open blooms in a small patch.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5B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4. Mark repeat visits before moving 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65392" y="1600200"/>
            <a:ext cx="4892040" cy="4343400"/>
          </a:xfrm>
          <a:prstGeom prst="roundRect">
            <a:avLst/>
          </a:prstGeom>
          <a:solidFill>
            <a:srgbClr val="1E5B55"/>
          </a:solidFill>
          <a:ln w="15875">
            <a:solidFill>
              <a:srgbClr val="1E5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7728" y="2029968"/>
            <a:ext cx="3703320" cy="2084832"/>
          </a:xfrm>
          <a:prstGeom prst="rect">
            <a:avLst/>
          </a:prstGeom>
          <a:solidFill>
            <a:srgbClr val="1E5B55">
              <a:alpha val="0"/>
            </a:srgbClr>
          </a:solidFill>
          <a:ln>
            <a:solidFill>
              <a:srgbClr val="1E5B55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AF8F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FIELD REMINDER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AF8F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Stay with your partner, leave flowers in place, and record only what you can observe without disturbing habitat.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AF8F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one shared check-in note per pair.</a:t>
            </a:r>
            <a:endParaRPr lang="en-US" sz="1700" dirty="0"/>
          </a:p>
        </p:txBody>
      </p:sp>
      <p:pic>
        <p:nvPicPr>
          <p:cNvPr id="7" name="Image 0" descr="guidance_leaf_ma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4315968"/>
            <a:ext cx="1234440" cy="1078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Riverside Pollinator Walk</dc:title>
  <dc:subject>Synthetic editable reference-task initial artifact</dc:subject>
  <dc:creator>OSWorld Expert Skill Reference Pipeline</dc:creator>
  <cp:lastModifiedBy>OSWorld Expert Skill Reference Pipeline</cp:lastModifiedBy>
  <cp:revision>1</cp:revision>
  <dcterms:created xsi:type="dcterms:W3CDTF">2026-08-25T12:48:27Z</dcterms:created>
  <dcterms:modified xsi:type="dcterms:W3CDTF">2026-08-25T12:48:27Z</dcterms:modified>
</cp:coreProperties>
</file>